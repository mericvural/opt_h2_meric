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983D3B-07CB-5F07-8AC9-1FED88B16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3FAC2D5-72E2-1C31-A432-922285274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592140-1D8F-F978-7FC9-DDAE33F70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9AE7D3-1161-BA36-C618-CB187ACBB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D0C213-79A3-1063-B84F-0783269FB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3624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FF7097-A7C7-9BA2-A576-7B225094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26DF68-A7EB-32D8-980F-198730B82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84A8C0-0A66-CD41-48EC-4C4B3427F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2F49C6-D667-934C-460E-59D633DAB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085F24D-488F-AC06-B8A8-CE8146270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9591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BC669A-D72F-8843-6E30-768367405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549EFF-3690-772D-274E-275B840DC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F46DF3-D258-8858-1D80-8D6F30D96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741BD8-62D2-E4E7-F96C-9213E85D5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B5FF08D-AA76-47A8-FBEE-282716349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2730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7E6BEF-2570-1CBA-F048-05CF20569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AC96AF-AB9D-8661-47DC-36FCA08A2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01BC145-94AB-7693-6A7E-2E6BF0D73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44132FA-A273-5A63-2194-9F2B940F1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ED508BB-8DDE-B5CB-BF82-C3F2F18EE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686F125-B273-5F57-5975-55C0AA25F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955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0E3C3A-A64A-2C12-CF42-29C8270D1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4386F7-023A-EA62-C3FA-F16EC2E4F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FF9D12-C0C2-765E-5549-E95CC18E61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DCE20A6-C937-266C-72B9-4062A8FE1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C8B56F5-2885-900F-6768-E570512E54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0663145-342B-F794-643A-C0FC9AEF7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2D2B841-74FF-CAF8-434B-E503BABFF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EA3104B-24AD-B1B0-4A94-3E8FD2129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3770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6036DA-856B-69BF-8D22-D071012BB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71F746-483D-4C8D-BE15-0220B5F0F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D8425F-EF42-0B34-E0CE-2A32C08EB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C201871-D273-1280-968D-1141E6F48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7024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1B5BF8C-257B-84F2-975B-502A7C8DA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52F574A-FF71-B33A-6FC7-D50D9E7FC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61B72B-5EB8-5EAA-AD90-CF779B9E5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385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D1595C-19E7-2F2F-B582-A7785B49C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CB5804-E6CF-EDFF-F0A0-AFF42A36D7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BA0569-9FE6-60BD-5095-A15228C21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A8EC0D9-8A58-B774-824D-539D61734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4B45F0-F40A-6153-DC09-A0393C468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B68E45-8031-65B0-63B2-FC83EA49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9614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CFF927-B9DC-5327-C846-FF7DA5DE8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146BC3F-0321-E70E-E200-C224001066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DD0FE15-318B-F1C6-C054-D94FA79D4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A06580-0FEF-0E67-7336-4D5C410C4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62AB96-816F-754D-B79F-B1B1F1C34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E763871-C1C8-3FA9-606E-C47DAD45A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1097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D34CCA-5452-785A-898B-3F46DDC05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978E268-14C8-2400-A5D6-8EDC1E61A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377937-C952-BAD5-6152-E2598A02C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1FB58A-1D71-DF24-3646-BA07F737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901F7D-7A37-FC44-09A3-D74935221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7852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8AC8C25-FCF0-111B-67D2-881DDF8FBE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D95AD12-629B-BE88-EA70-7B2375152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A1AC829-08ED-B0AE-04C1-32C2FE690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D076-D522-43C9-A58C-F6D631DD9FC1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185351-7590-B4E0-9F68-04730344F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F0B9C1-EAC2-3098-10E7-08ED69DAA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0362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C3DD863-A5C4-5062-7D9A-8FF5D27D3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0804725-67B3-A5F5-9694-F15A20EF3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2B7BD6-B1B2-3224-7B09-C3AEA0425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ED076-D522-43C9-A58C-F6D631DD9FC1}" type="datetimeFigureOut">
              <a:rPr lang="de-DE" smtClean="0"/>
              <a:t>13.10.2026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CC2139-EE6F-6F88-B326-EB043B4D2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2FF6DE-2D4C-A54B-7668-A00747254A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ECD4D-053A-45E1-81BD-AD419FB6A50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1773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D3238E-1BC7-93DF-B6E1-4839B4911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0025" y="0"/>
            <a:ext cx="10217544" cy="1375646"/>
          </a:xfrm>
        </p:spPr>
        <p:txBody>
          <a:bodyPr>
            <a:normAutofit fontScale="90000"/>
          </a:bodyPr>
          <a:lstStyle/>
          <a:p>
            <a:r>
              <a:rPr lang="de-DE" sz="5400" dirty="0"/>
              <a:t>Systemgrenzen der Forschungsarbeit</a:t>
            </a: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D51B9A0-4B38-A886-D6D5-BB904FB49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868719"/>
              </p:ext>
            </p:extLst>
          </p:nvPr>
        </p:nvGraphicFramePr>
        <p:xfrm>
          <a:off x="838200" y="2172494"/>
          <a:ext cx="10515600" cy="3931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9831593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341249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Annahme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Namibia-Basiswert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2682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Netzemissionsfaktor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220 kg </a:t>
                      </a:r>
                      <a:r>
                        <a:rPr lang="de-DE" dirty="0" err="1"/>
                        <a:t>CO₂e</a:t>
                      </a:r>
                      <a:r>
                        <a:rPr lang="de-DE" dirty="0"/>
                        <a:t>/MWh (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Standortbezogen</a:t>
                      </a:r>
                      <a:r>
                        <a:rPr lang="de-DE" dirty="0"/>
                        <a:t>) Was wenn dynamisch ist?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041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Strompreis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128 EUR/MWh (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Standortbezogen</a:t>
                      </a:r>
                      <a:r>
                        <a:rPr lang="de-DE" dirty="0"/>
                        <a:t>), dynamisch?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8034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realer WACC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11 %(</a:t>
                      </a: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Standortbezogen</a:t>
                      </a:r>
                      <a:r>
                        <a:rPr lang="de-DE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3652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H₂-Nachfrage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10.000 kg/Tag (ebenfalls als </a:t>
                      </a:r>
                      <a:r>
                        <a:rPr lang="de-DE" dirty="0" err="1"/>
                        <a:t>sensitivität</a:t>
                      </a:r>
                      <a:r>
                        <a:rPr lang="de-DE" dirty="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614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Elektrolyseurstrombedarf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52,5 kWh/kg H₂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7889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Kompressorstrombedarf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1,7875 kWh/kg H₂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272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H₂-Heizwert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120 MJ/kg H₂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8141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Modellzeitraum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8.760 Stunden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2747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Zeitstandard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UTC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8859877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F00C3852-1719-E991-92AE-DAD952C76086}"/>
              </a:ext>
            </a:extLst>
          </p:cNvPr>
          <p:cNvSpPr txBox="1"/>
          <p:nvPr/>
        </p:nvSpPr>
        <p:spPr>
          <a:xfrm>
            <a:off x="940025" y="6215974"/>
            <a:ext cx="4166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Weitere RED -3 </a:t>
            </a:r>
            <a:r>
              <a:rPr lang="de-DE" dirty="0" err="1">
                <a:solidFill>
                  <a:srgbClr val="FF0000"/>
                </a:solidFill>
              </a:rPr>
              <a:t>kriterien</a:t>
            </a:r>
            <a:endParaRPr lang="de-D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645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3571B035-0C1C-A046-82D1-4E675CCD4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927685"/>
              </p:ext>
            </p:extLst>
          </p:nvPr>
        </p:nvGraphicFramePr>
        <p:xfrm>
          <a:off x="485520" y="282948"/>
          <a:ext cx="11417862" cy="38564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05954">
                  <a:extLst>
                    <a:ext uri="{9D8B030D-6E8A-4147-A177-3AD203B41FA5}">
                      <a16:colId xmlns:a16="http://schemas.microsoft.com/office/drawing/2014/main" val="2586343836"/>
                    </a:ext>
                  </a:extLst>
                </a:gridCol>
                <a:gridCol w="3805954">
                  <a:extLst>
                    <a:ext uri="{9D8B030D-6E8A-4147-A177-3AD203B41FA5}">
                      <a16:colId xmlns:a16="http://schemas.microsoft.com/office/drawing/2014/main" val="1350638219"/>
                    </a:ext>
                  </a:extLst>
                </a:gridCol>
                <a:gridCol w="3805954">
                  <a:extLst>
                    <a:ext uri="{9D8B030D-6E8A-4147-A177-3AD203B41FA5}">
                      <a16:colId xmlns:a16="http://schemas.microsoft.com/office/drawing/2014/main" val="1181138394"/>
                    </a:ext>
                  </a:extLst>
                </a:gridCol>
              </a:tblGrid>
              <a:tr h="243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Kriterium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Grenzwert im Modell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Wann bestanden?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227002020"/>
                  </a:ext>
                </a:extLst>
              </a:tr>
              <a:tr h="609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zeitliche Korrelation S1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monatlich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EE-Erzeugung ≥ Elektrolyseur- und Kompressorstrom in jedem Monat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502903890"/>
                  </a:ext>
                </a:extLst>
              </a:tr>
              <a:tr h="609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zeitliche Korrelation S2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stündlich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EE-Erzeugung ≥ Elektrolyseur- und Kompressorstrom in jeder Stunde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878187632"/>
                  </a:ext>
                </a:extLst>
              </a:tr>
              <a:tr h="426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numerische Toleranz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0,000001 MWh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eine kleinere Abweichung wird als Rundungsfehler akzeptiert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404761984"/>
                  </a:ext>
                </a:extLst>
              </a:tr>
              <a:tr h="243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Mindest-THG-Einsparung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70 %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berechnete Einsparung ≥ 70 %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755677736"/>
                  </a:ext>
                </a:extLst>
              </a:tr>
              <a:tr h="243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fossiler Vergleichswert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94 g CO₂e/MJ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gesetzlicher Referenzwert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354898578"/>
                  </a:ext>
                </a:extLst>
              </a:tr>
              <a:tr h="426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maximale H₂-Intensität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28,2 g </a:t>
                      </a:r>
                      <a:r>
                        <a:rPr lang="de-DE" sz="1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CO₂e</a:t>
                      </a:r>
                      <a:r>
                        <a:rPr lang="de-D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/MJ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Wert darf nicht überschritten werden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778291931"/>
                  </a:ext>
                </a:extLst>
              </a:tr>
              <a:tr h="426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umgerechneter H₂-Grenzwert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3,384 kg </a:t>
                      </a:r>
                      <a:r>
                        <a:rPr lang="de-DE" sz="14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CO₂e</a:t>
                      </a:r>
                      <a:r>
                        <a:rPr lang="de-D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/kg H₂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Wert darf nicht überschritten werden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511665788"/>
                  </a:ext>
                </a:extLst>
              </a:tr>
              <a:tr h="4267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verwendeter H₂-Heizwert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120 MJ/kg H₂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Systemannahme für die Umrechnung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066444750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9BA358AB-1131-4363-051B-AC6B750C2AE0}"/>
              </a:ext>
            </a:extLst>
          </p:cNvPr>
          <p:cNvSpPr txBox="1"/>
          <p:nvPr/>
        </p:nvSpPr>
        <p:spPr>
          <a:xfrm>
            <a:off x="396508" y="4191080"/>
            <a:ext cx="98075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/>
              <a:t>RFNBO-Strombedarf= Elektrolyseurstrom+ </a:t>
            </a:r>
            <a:r>
              <a:rPr lang="de-DE" sz="1400" dirty="0" err="1"/>
              <a:t>Kompressorstrom</a:t>
            </a:r>
            <a:endParaRPr lang="de-DE" sz="1400" dirty="0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CE67B97-C751-61F9-C35D-553963D979A7}"/>
              </a:ext>
            </a:extLst>
          </p:cNvPr>
          <p:cNvSpPr txBox="1"/>
          <p:nvPr/>
        </p:nvSpPr>
        <p:spPr>
          <a:xfrm>
            <a:off x="396508" y="4411551"/>
            <a:ext cx="6097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/>
              <a:t>EE-Strom= PV-Erzeugung+ Winderzeugung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FC5CE26-EF97-0877-9395-A81FE7E37997}"/>
              </a:ext>
            </a:extLst>
          </p:cNvPr>
          <p:cNvSpPr txBox="1"/>
          <p:nvPr/>
        </p:nvSpPr>
        <p:spPr>
          <a:xfrm>
            <a:off x="6570731" y="4921117"/>
            <a:ext cx="6773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PV + Wind ≥ Elektrolyseur + Kompressor in jedem  Kalendermonat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2929746-2E4C-44FB-3B03-C74A4A727DC3}"/>
              </a:ext>
            </a:extLst>
          </p:cNvPr>
          <p:cNvSpPr txBox="1"/>
          <p:nvPr/>
        </p:nvSpPr>
        <p:spPr>
          <a:xfrm>
            <a:off x="6570731" y="5182619"/>
            <a:ext cx="60973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regulatorische H₂-Intensität ≤ 3,384 kg </a:t>
            </a:r>
            <a:r>
              <a:rPr lang="de-DE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CO₂e</a:t>
            </a:r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/kg H</a:t>
            </a:r>
            <a:r>
              <a:rPr lang="de-DE" sz="1400" dirty="0"/>
              <a:t>₂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057986F-B6E8-22A9-3B5A-DE000F3B86B7}"/>
              </a:ext>
            </a:extLst>
          </p:cNvPr>
          <p:cNvSpPr txBox="1"/>
          <p:nvPr/>
        </p:nvSpPr>
        <p:spPr>
          <a:xfrm>
            <a:off x="161840" y="4921117"/>
            <a:ext cx="67730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PV(t) + Wind(t) ≥ Elektrolyseur(t) + Kompressor(t) in jeder einzelnen Stunde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6D57CE7-D214-E535-AC42-3B0013C69D69}"/>
              </a:ext>
            </a:extLst>
          </p:cNvPr>
          <p:cNvSpPr txBox="1"/>
          <p:nvPr/>
        </p:nvSpPr>
        <p:spPr>
          <a:xfrm>
            <a:off x="161840" y="5228390"/>
            <a:ext cx="54985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regulatorische H₂-Intensität ≤ 3,384 kg </a:t>
            </a:r>
            <a:r>
              <a:rPr lang="de-DE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CO₂e</a:t>
            </a:r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/kg H₂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D0774E23-62FD-C5C8-1CF7-FA94EFF7B063}"/>
              </a:ext>
            </a:extLst>
          </p:cNvPr>
          <p:cNvSpPr txBox="1"/>
          <p:nvPr/>
        </p:nvSpPr>
        <p:spPr>
          <a:xfrm>
            <a:off x="1723606" y="4678234"/>
            <a:ext cx="157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B050"/>
                </a:solidFill>
              </a:rPr>
              <a:t>S1 Szenario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32FA815-3B07-51DC-69F1-F079714577BC}"/>
              </a:ext>
            </a:extLst>
          </p:cNvPr>
          <p:cNvSpPr txBox="1"/>
          <p:nvPr/>
        </p:nvSpPr>
        <p:spPr>
          <a:xfrm>
            <a:off x="8379305" y="4649393"/>
            <a:ext cx="157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00B050"/>
                </a:solidFill>
              </a:rPr>
              <a:t>S2 Szenario</a:t>
            </a:r>
          </a:p>
        </p:txBody>
      </p:sp>
    </p:spTree>
    <p:extLst>
      <p:ext uri="{BB962C8B-B14F-4D97-AF65-F5344CB8AC3E}">
        <p14:creationId xmlns:p14="http://schemas.microsoft.com/office/powerpoint/2010/main" val="1410796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82AF47-584E-35E5-D8A2-28FB5E344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563"/>
          </a:xfrm>
        </p:spPr>
        <p:txBody>
          <a:bodyPr>
            <a:normAutofit/>
          </a:bodyPr>
          <a:lstStyle/>
          <a:p>
            <a:pPr algn="ctr"/>
            <a:r>
              <a:rPr lang="de-DE" sz="3600" dirty="0"/>
              <a:t>Untersuchte Sensitivitäten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A4B40273-881A-036E-106F-0F23FD1AC1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1621858"/>
              </p:ext>
            </p:extLst>
          </p:nvPr>
        </p:nvGraphicFramePr>
        <p:xfrm>
          <a:off x="838200" y="1111224"/>
          <a:ext cx="10515600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52569278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057516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5015246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63276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>
                          <a:solidFill>
                            <a:srgbClr val="00B050"/>
                          </a:solidFill>
                        </a:rPr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niedriger Wert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Basiswert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hoher Wert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7911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Strompreis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64 EUR/MWh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128 EUR/MWh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192 EUR/MWh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0332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Elektrolyseur-CAPEX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972,75 EUR/kW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1.297 EUR/kW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1.621,25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5619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Elektrolyseur-Strombedarf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47,25 kWh/kg H₂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52,5 kWh/kg H₂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57,75 kWh/kg H₂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565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realer WACC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7 %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11 %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15 %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5930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PV-CAPEX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690,75 EUR/kW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921 EUR/kW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1.151,25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9697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H₂-Speicher-CAPEX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550,125 EUR/kg H₂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733,50 EUR/kg H₂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916,875 EUR/kg H₂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8926655"/>
                  </a:ext>
                </a:extLst>
              </a:tr>
            </a:tbl>
          </a:graphicData>
        </a:graphic>
      </p:graphicFrame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1177C327-CE12-E28C-C6BA-B04E7415DD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832290"/>
              </p:ext>
            </p:extLst>
          </p:nvPr>
        </p:nvGraphicFramePr>
        <p:xfrm>
          <a:off x="838200" y="4102662"/>
          <a:ext cx="10515600" cy="20268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06978457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44300579"/>
                    </a:ext>
                  </a:extLst>
                </a:gridCol>
              </a:tblGrid>
              <a:tr h="405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Windfall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Wind-CAPEX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6873625"/>
                  </a:ext>
                </a:extLst>
              </a:tr>
              <a:tr h="405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25 % des Basiswerts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444,875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0692257"/>
                  </a:ext>
                </a:extLst>
              </a:tr>
              <a:tr h="405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50 % des Basiswerts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889,75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9210854"/>
                  </a:ext>
                </a:extLst>
              </a:tr>
              <a:tr h="405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Basiswert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1.779,50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1238361"/>
                  </a:ext>
                </a:extLst>
              </a:tr>
              <a:tr h="405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150 % des Basiswerts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2.669,25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046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97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F7269F-F1FC-2EB7-4330-7CA8F13CC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5919"/>
          </a:xfrm>
        </p:spPr>
        <p:txBody>
          <a:bodyPr>
            <a:normAutofit fontScale="90000"/>
          </a:bodyPr>
          <a:lstStyle/>
          <a:p>
            <a:pPr algn="ctr"/>
            <a:r>
              <a:rPr lang="de-DE" dirty="0"/>
              <a:t>Capex- Werte</a:t>
            </a:r>
          </a:p>
        </p:txBody>
      </p:sp>
      <p:graphicFrame>
        <p:nvGraphicFramePr>
          <p:cNvPr id="4" name="Inhaltsplatzhalter 3">
            <a:extLst>
              <a:ext uri="{FF2B5EF4-FFF2-40B4-BE49-F238E27FC236}">
                <a16:creationId xmlns:a16="http://schemas.microsoft.com/office/drawing/2014/main" id="{1C046301-D3B1-1794-19D1-D19994DFDF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7721614"/>
              </p:ext>
            </p:extLst>
          </p:nvPr>
        </p:nvGraphicFramePr>
        <p:xfrm>
          <a:off x="838200" y="1157348"/>
          <a:ext cx="1051560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654498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5020416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111461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716304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Komponente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Literaturbandbreite bei Brandt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Rechnung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Basiswert unseres Modells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5125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Photovoltaik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600–1.242 EUR₍₂₀₂₃₎/kW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Mittelwert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921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2672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Onshore-Wind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1.212–2.347 EUR₍₂₀₂₃₎/kW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Mittelwert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1.779,50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2465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PEM-Elektrolyseur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804–1.790 EUR₍₂₀₂₃₎/kW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Mittelwert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1.297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8143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Kompressor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741–8.414 EUR₍₂₀₂₃₎/kW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Mittelwert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4.577,50 EUR/kW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5556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H₂-Druckspeicher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454–1.013 EUR₍₂₀₂₃₎/kg H₂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/>
                        <a:t>Mittelwert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dirty="0"/>
                        <a:t>733,50 EUR/kg H₂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5858775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7CB90014-49C6-7AB9-846C-4E27697475EE}"/>
              </a:ext>
            </a:extLst>
          </p:cNvPr>
          <p:cNvSpPr txBox="1"/>
          <p:nvPr/>
        </p:nvSpPr>
        <p:spPr>
          <a:xfrm>
            <a:off x="922492" y="4547724"/>
            <a:ext cx="80758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Im Laufe der Zeit kann ich andere Werte aus Literatur rausnehmen. Sie dienen als Startpunkt</a:t>
            </a:r>
          </a:p>
        </p:txBody>
      </p:sp>
    </p:spTree>
    <p:extLst>
      <p:ext uri="{BB962C8B-B14F-4D97-AF65-F5344CB8AC3E}">
        <p14:creationId xmlns:p14="http://schemas.microsoft.com/office/powerpoint/2010/main" val="513017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E52B8E-B9D9-A52C-98E2-74C90DD2E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DCF7A3-AB74-B729-51F7-AFDCE88B0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de-DE" b="1" dirty="0"/>
              <a:t>Im aktuellen Modell wird der physische Verbleib dieses Überschusses nicht ausdrücklich berechnet.</a:t>
            </a:r>
            <a:r>
              <a:rPr lang="de-DE" dirty="0"/>
              <a:t> Das ist eine wichtige Vereinfachung, die ich im Beispiel deutlicher hätte nennen müssen.</a:t>
            </a:r>
          </a:p>
          <a:p>
            <a:r>
              <a:rPr lang="de-DE" dirty="0"/>
              <a:t>Für die </a:t>
            </a:r>
            <a:r>
              <a:rPr lang="de-DE" b="1" dirty="0"/>
              <a:t>1.513 MWh Überschuss im Januar</a:t>
            </a:r>
            <a:r>
              <a:rPr lang="de-DE" dirty="0"/>
              <a:t> gilt:</a:t>
            </a:r>
          </a:p>
          <a:p>
            <a:pPr lvl="0"/>
            <a:r>
              <a:rPr lang="de-DE" dirty="0"/>
              <a:t>Sie werden als erzeugter erneuerbarer Strom bilanziert.</a:t>
            </a:r>
          </a:p>
          <a:p>
            <a:pPr lvl="0"/>
            <a:r>
              <a:rPr lang="de-DE" dirty="0"/>
              <a:t>Die H₂-Anlage verbraucht sie nicht direkt.</a:t>
            </a:r>
          </a:p>
          <a:p>
            <a:pPr lvl="0"/>
            <a:r>
              <a:rPr lang="de-DE" dirty="0"/>
              <a:t>Sie zählen zur monatlichen erneuerbaren Deckung.</a:t>
            </a:r>
          </a:p>
          <a:p>
            <a:pPr lvl="0"/>
            <a:r>
              <a:rPr lang="de-DE" dirty="0"/>
              <a:t>Das Modell berechnet dafür </a:t>
            </a:r>
            <a:r>
              <a:rPr lang="de-DE" b="1" dirty="0"/>
              <a:t>keinen konkreten Abnehmer, keine Einspeisegrenze und keinen Verkaufserlös</a:t>
            </a:r>
            <a:r>
              <a:rPr lang="de-DE" dirty="0"/>
              <a:t>. Eine Stromspeicherung findet ebenfalls nicht statt.</a:t>
            </a:r>
          </a:p>
          <a:p>
            <a:r>
              <a:rPr lang="de-DE" b="1" dirty="0"/>
              <a:t>In einer realen Anlage müsste dieser Strom beispielsweise ins Netz eingespeist oder von einem anderen Verbraucher genutzt werden.</a:t>
            </a:r>
            <a:r>
              <a:rPr lang="de-DE" dirty="0"/>
              <a:t> Wenn stattdessen die Erzeugung abgeregelt wird, entsteht diese Strommenge nicht und darf auch nicht zur Deckung zählen. Unser Modell führt Abregelung deshalb separat.</a:t>
            </a:r>
          </a:p>
          <a:p>
            <a:r>
              <a:rPr lang="de-DE" dirty="0"/>
              <a:t>Die genaue Antwort lautet also: </a:t>
            </a:r>
            <a:r>
              <a:rPr lang="de-DE" b="1" dirty="0"/>
              <a:t>Der Überschuss wird derzeit rechnerisch zugeordnet; wohin er tatsächlich fließt, bleibt außerhalb des Modells.</a:t>
            </a:r>
            <a:r>
              <a:rPr lang="de-DE" dirty="0"/>
              <a:t> Daraus allein lässt sich keine rechtlich zulässige Nutzung nachweisen.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9897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Office PowerPoint</Application>
  <PresentationFormat>Breitbild</PresentationFormat>
  <Paragraphs>130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</vt:lpstr>
      <vt:lpstr>Systemgrenzen der Forschungsarbeit</vt:lpstr>
      <vt:lpstr>PowerPoint-Präsentation</vt:lpstr>
      <vt:lpstr>Untersuchte Sensitivitäten</vt:lpstr>
      <vt:lpstr>Capex- Werte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Meric Vural</dc:creator>
  <cp:lastModifiedBy>Meric Vural</cp:lastModifiedBy>
  <cp:revision>7</cp:revision>
  <dcterms:created xsi:type="dcterms:W3CDTF">2026-09-14T11:17:44Z</dcterms:created>
  <dcterms:modified xsi:type="dcterms:W3CDTF">2026-10-12T23:21:36Z</dcterms:modified>
</cp:coreProperties>
</file>